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embeddedFontLst>
    <p:embeddedFont>
      <p:font typeface="Press Start 2P"/>
      <p:regular r:id="rId13"/>
    </p:embeddedFon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ressStart2P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4.png"/><Relationship Id="rId13" Type="http://schemas.openxmlformats.org/officeDocument/2006/relationships/image" Target="../media/image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15" Type="http://schemas.openxmlformats.org/officeDocument/2006/relationships/image" Target="../media/image12.png"/><Relationship Id="rId14" Type="http://schemas.openxmlformats.org/officeDocument/2006/relationships/image" Target="../media/image8.png"/><Relationship Id="rId17" Type="http://schemas.openxmlformats.org/officeDocument/2006/relationships/image" Target="../media/image16.png"/><Relationship Id="rId16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jp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0" y="0"/>
            <a:ext cx="18288000" cy="570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7196625" y="842582"/>
            <a:ext cx="4750561" cy="42937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3842818" y="418234"/>
            <a:ext cx="3971926" cy="80010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79454" y="418234"/>
            <a:ext cx="5537201" cy="80010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40089" y="5940230"/>
            <a:ext cx="436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Press Start 2P"/>
              <a:buNone/>
            </a:pPr>
            <a:r>
              <a:rPr b="0" i="0" lang="en-US" sz="6800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Team 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-233900" y="6986925"/>
            <a:ext cx="184299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6002" lvl="1" marL="1122678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4800"/>
              <a:t>-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StarWeb</a:t>
            </a:r>
            <a:endParaRPr/>
          </a:p>
          <a:p>
            <a:pPr indent="-536002" lvl="1" marL="1122678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Members’ Name </a:t>
            </a:r>
            <a:r>
              <a:rPr b="1" lang="en-US" sz="4800"/>
              <a:t>-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Kanishka Pandey &amp; Dhruv Makkar</a:t>
            </a:r>
            <a:endParaRPr/>
          </a:p>
          <a:p>
            <a:pPr indent="-536001" lvl="1" marL="1122677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b="1" i="0" lang="en-US" sz="4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</a:t>
            </a:r>
            <a:r>
              <a:rPr b="1" lang="en-US" sz="4900"/>
              <a:t>-</a:t>
            </a:r>
            <a:r>
              <a:rPr b="1" i="0" lang="en-US" sz="4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lang="en-US" sz="4800"/>
              <a:t>anishka - </a:t>
            </a:r>
            <a:r>
              <a:rPr b="1" lang="en-US" sz="4800"/>
              <a:t>AI &amp; Backend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Lead</a:t>
            </a:r>
            <a:r>
              <a:rPr b="1" lang="en-US" sz="4800"/>
              <a:t>,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Dhruv</a:t>
            </a:r>
            <a:r>
              <a:rPr b="1" lang="en-US" sz="4800"/>
              <a:t> -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 &amp; UX lead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0" y="10120214"/>
            <a:ext cx="18306454" cy="166787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278022" y="2182430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Theme</a:t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15190575" y="472320"/>
            <a:ext cx="1" cy="479101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4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1281088" y="439948"/>
            <a:ext cx="3762789" cy="5437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4"/>
          <p:cNvCxnSpPr/>
          <p:nvPr/>
        </p:nvCxnSpPr>
        <p:spPr>
          <a:xfrm>
            <a:off x="-142824" y="2967161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" name="Google Shape;78;p14"/>
          <p:cNvSpPr txBox="1"/>
          <p:nvPr/>
        </p:nvSpPr>
        <p:spPr>
          <a:xfrm>
            <a:off x="548952" y="3361065"/>
            <a:ext cx="8961835" cy="7418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10556552" y="3361065"/>
            <a:ext cx="7126289" cy="7418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10556552" y="5977265"/>
            <a:ext cx="7126289" cy="7418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AI/ML TRACK ALIGNMENT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620575" y="4478576"/>
            <a:ext cx="8961900" cy="4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sp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1700">
                <a:solidFill>
                  <a:schemeClr val="dk1"/>
                </a:solidFill>
              </a:rPr>
              <a:t>Language Exclusion &amp; </a:t>
            </a:r>
            <a:r>
              <a:rPr b="1" lang="en-US" sz="1700">
                <a:solidFill>
                  <a:schemeClr val="dk1"/>
                </a:solidFill>
              </a:rPr>
              <a:t>The Literacy Gap</a:t>
            </a:r>
            <a:r>
              <a:rPr b="1" lang="en-US" sz="17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O</a:t>
            </a:r>
            <a:r>
              <a:rPr lang="en-US" sz="1600">
                <a:solidFill>
                  <a:schemeClr val="dk1"/>
                </a:solidFill>
              </a:rPr>
              <a:t>ver 200 agriculture apps exist in India, but they are all useless to the 115 million women who do </a:t>
            </a:r>
            <a:r>
              <a:rPr lang="en-US" sz="1600">
                <a:solidFill>
                  <a:schemeClr val="dk1"/>
                </a:solidFill>
              </a:rPr>
              <a:t>most of the farm work </a:t>
            </a:r>
            <a:r>
              <a:rPr lang="en-US" sz="1600">
                <a:solidFill>
                  <a:schemeClr val="dk1"/>
                </a:solidFill>
              </a:rPr>
              <a:t>because these apps require users to read and type in English or Hindi </a:t>
            </a:r>
            <a:r>
              <a:rPr lang="en-US" sz="1800">
                <a:solidFill>
                  <a:schemeClr val="dk1"/>
                </a:solidFill>
              </a:rPr>
              <a:t>script.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1700">
                <a:solidFill>
                  <a:schemeClr val="dk1"/>
                </a:solidFill>
              </a:rPr>
              <a:t>Price Exploitation:</a:t>
            </a:r>
            <a:r>
              <a:rPr lang="en-US" sz="1700">
                <a:solidFill>
                  <a:schemeClr val="dk1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Outside traders take advantage of this information gap, cheating farmers on crop prices because they have no quick way to verify real market rates.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1700">
                <a:solidFill>
                  <a:schemeClr val="dk1"/>
                </a:solidFill>
              </a:rPr>
              <a:t>Network Dead Zones:</a:t>
            </a:r>
            <a:r>
              <a:rPr lang="en-US" sz="1700">
                <a:solidFill>
                  <a:schemeClr val="dk1"/>
                </a:solidFill>
              </a:rPr>
              <a:t> Rural internet is highly unreliable, causing standard cloud-based apps to fail exactly when farmers need them most.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1700">
                <a:solidFill>
                  <a:schemeClr val="dk1"/>
                </a:solidFill>
              </a:rPr>
              <a:t>Field Safety Risks:</a:t>
            </a:r>
            <a:r>
              <a:rPr lang="en-US" sz="1700">
                <a:solidFill>
                  <a:schemeClr val="dk1"/>
                </a:solidFill>
              </a:rPr>
              <a:t> 1 in 3 women farmers report feeling unsafe or vulnerable when working alone in remote fields.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77191" y="8702340"/>
            <a:ext cx="1792536" cy="103169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115 M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Women farm workers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2975891" y="8715040"/>
            <a:ext cx="1792536" cy="103169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Rs. 42K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loss per trade</a:t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5274591" y="8715040"/>
            <a:ext cx="1792536" cy="103169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83 %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Schemes never claimed</a:t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7573291" y="8715040"/>
            <a:ext cx="1552625" cy="103169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first tools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10556552" y="4173786"/>
            <a:ext cx="7126289" cy="1732581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spAutoFit/>
          </a:bodyPr>
          <a:lstStyle/>
          <a:p>
            <a:pPr indent="-180473" lvl="0" marL="18047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1% of 115M women avoid one bad trade/year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$483 crore of recovered income for the most underserved farmers of India.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473" lvl="0" marL="18047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83% of eligible women have never claimed a government scheme, Sakhi Al bridges that gap automatically.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10600208" y="6992739"/>
            <a:ext cx="2338984" cy="360823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   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0600208" y="7601814"/>
            <a:ext cx="2338984" cy="360822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10600208" y="8264664"/>
            <a:ext cx="2338984" cy="360822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Predictive Analysis  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10600208" y="8873738"/>
            <a:ext cx="2338984" cy="360823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Computer Vision   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10600208" y="9536589"/>
            <a:ext cx="2338984" cy="360822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3178654" y="7074458"/>
            <a:ext cx="4824696" cy="24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Whisper Speech recognises 7 Indian languages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3178654" y="7658756"/>
            <a:ext cx="5194155" cy="24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 API answers grounded in ICAR documents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3178654" y="8264664"/>
            <a:ext cx="4824696" cy="24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days Mandi price trend + crop disease risk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178654" y="8930681"/>
            <a:ext cx="4824696" cy="24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Leaf photo —&gt; disease diagnosis via vision model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178654" y="9593531"/>
            <a:ext cx="4824696" cy="24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 queue, auto sync, SOS alert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15190574" y="472320"/>
            <a:ext cx="1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5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1281088" y="439948"/>
            <a:ext cx="3762789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10120214"/>
            <a:ext cx="18306333" cy="166786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02042" y="2196977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cxnSp>
        <p:nvCxnSpPr>
          <p:cNvPr id="107" name="Google Shape;107;p15"/>
          <p:cNvCxnSpPr/>
          <p:nvPr/>
        </p:nvCxnSpPr>
        <p:spPr>
          <a:xfrm>
            <a:off x="-142824" y="2893902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8" name="Google Shape;108;p15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40709" y="3032143"/>
            <a:ext cx="17824915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151885" y="6035084"/>
            <a:ext cx="8893808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UNIQUE VALUE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56256" y="6035084"/>
            <a:ext cx="8314599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231177" y="3899505"/>
            <a:ext cx="17843980" cy="589423"/>
          </a:xfrm>
          <a:prstGeom prst="rect">
            <a:avLst/>
          </a:prstGeom>
          <a:solidFill>
            <a:srgbClr val="CCDCAB"/>
          </a:solidFill>
          <a:ln cap="flat" cmpd="sng" w="12700">
            <a:solidFill>
              <a:srgbClr val="CCDCAB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Sakhi Al</a:t>
            </a:r>
            <a:r>
              <a:rPr b="0" i="0" lang="en-US" sz="18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rPr>
              <a:t> is a voice-first, RAG-powered Al assistant that lets non-literate rural women farmers ask agricultural questions in their own language and get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verified, spoken answers </a:t>
            </a:r>
            <a:r>
              <a:rPr b="0" i="0" lang="en-US" sz="18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rPr>
              <a:t>- with or without internet.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1251" y="4627168"/>
            <a:ext cx="3635855" cy="1083569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76200" lIns="76200" spcFirstLastPara="1" rIns="76200" wrap="square" tIns="76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She Speaks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Taps one button, asks in her regional language. No typing required.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18348" y="4627168"/>
            <a:ext cx="3912900" cy="130830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AI Transcribes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Whisper converts voice to text at 95% accuracy across 7 Indian languages in &lt;3 secs(with internet).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239887" y="4589068"/>
            <a:ext cx="4253100" cy="123600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RAG searches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LangChain classifies intent.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searches 10,000+ ICAR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docs + fetches live mandi &amp; weather data.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4104133" y="4589068"/>
            <a:ext cx="3912900" cy="1308300"/>
          </a:xfrm>
          <a:prstGeom prst="rect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Gemini Answers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API generates a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low complexity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with source citation. TTS reads it back in her dialect.</a:t>
            </a:r>
            <a:endParaRPr/>
          </a:p>
        </p:txBody>
      </p:sp>
      <p:cxnSp>
        <p:nvCxnSpPr>
          <p:cNvPr id="117" name="Google Shape;117;p15"/>
          <p:cNvCxnSpPr/>
          <p:nvPr/>
        </p:nvCxnSpPr>
        <p:spPr>
          <a:xfrm>
            <a:off x="4130825" y="5225124"/>
            <a:ext cx="565461" cy="1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8" name="Google Shape;118;p15"/>
          <p:cNvCxnSpPr/>
          <p:nvPr/>
        </p:nvCxnSpPr>
        <p:spPr>
          <a:xfrm>
            <a:off x="13512469" y="5265180"/>
            <a:ext cx="565461" cy="1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9" name="Google Shape;119;p15"/>
          <p:cNvCxnSpPr/>
          <p:nvPr/>
        </p:nvCxnSpPr>
        <p:spPr>
          <a:xfrm>
            <a:off x="8651535" y="5265180"/>
            <a:ext cx="565461" cy="1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0" name="Google Shape;120;p15"/>
          <p:cNvSpPr txBox="1"/>
          <p:nvPr/>
        </p:nvSpPr>
        <p:spPr>
          <a:xfrm>
            <a:off x="351918" y="6975566"/>
            <a:ext cx="4041868" cy="182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Mandi price engine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Live AgMarket prices, to let her know prices before any negotiation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Scheme Finder 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PM-KISAN / PMFBY schemes, offline, in her language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 Trend Prediction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7-day rolling average, tells her when to sell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08133" y="6975566"/>
            <a:ext cx="3847161" cy="182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Crop Disease Diagnosis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Voice or photo —&gt; ICAR matched disease + remedy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Tap SOS Safety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Gps location via SMS/ WhatsApp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Crop Risks Alerts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Weather + ICAR maps —&gt; early disease warning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288240" y="6937449"/>
            <a:ext cx="8621098" cy="678322"/>
          </a:xfrm>
          <a:prstGeom prst="rect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Voice-first by design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Not a chatbot. Not a form. One tap → speak → answer.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Zero typing at any step.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88240" y="7832816"/>
            <a:ext cx="8621098" cy="678323"/>
          </a:xfrm>
          <a:prstGeom prst="rect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without internet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Hive DB local cache. Questions queued offline, answered when online. No other agri-Al does this.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266417" y="8728183"/>
            <a:ext cx="8664600" cy="959400"/>
          </a:xfrm>
          <a:prstGeom prst="rect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Women-first prompting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Gemini is instructed with women first context</a:t>
            </a:r>
            <a:r>
              <a:rPr lang="en-US" sz="1800"/>
              <a:t>, low complexity answers with local dialect alignment, ensuring responses are highly accessible and easily understandable 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15190574" y="472320"/>
            <a:ext cx="1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6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1281088" y="439948"/>
            <a:ext cx="3762789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0" y="10120214"/>
            <a:ext cx="18306333" cy="166786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02042" y="2234362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/>
          </a:p>
        </p:txBody>
      </p:sp>
      <p:cxnSp>
        <p:nvCxnSpPr>
          <p:cNvPr id="136" name="Google Shape;136;p16"/>
          <p:cNvCxnSpPr/>
          <p:nvPr/>
        </p:nvCxnSpPr>
        <p:spPr>
          <a:xfrm>
            <a:off x="-142824" y="2893902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7" name="Google Shape;137;p16"/>
          <p:cNvSpPr txBox="1"/>
          <p:nvPr/>
        </p:nvSpPr>
        <p:spPr>
          <a:xfrm>
            <a:off x="210285" y="3118269"/>
            <a:ext cx="7243503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210285" y="6365241"/>
            <a:ext cx="7149025" cy="7418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APIs USED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824570" y="3118269"/>
            <a:ext cx="10356084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FLOW DIAGRAM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236366" y="7230685"/>
            <a:ext cx="4213739" cy="34978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Whisper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voice to text(7 Indian languages)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1250" y="7866945"/>
            <a:ext cx="5223771" cy="349784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 API (google)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answer generation + computer vision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224701" y="8989311"/>
            <a:ext cx="2980991" cy="349784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AgMarkNet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live Mandi prices 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205760" y="8986621"/>
            <a:ext cx="3865693" cy="34978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Weather API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Hyperlocal weather data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540735" y="7230685"/>
            <a:ext cx="2738970" cy="55298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Supabase REST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conversation logs + users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1250" y="8379667"/>
            <a:ext cx="5223772" cy="349784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Twilio &amp; WhatsApp cloud APIs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SMS SOS + WhatsApp alert</a:t>
            </a:r>
            <a:endParaRPr/>
          </a:p>
        </p:txBody>
      </p:sp>
      <p:pic>
        <p:nvPicPr>
          <p:cNvPr descr="Screenshot 2026-05-18 at 3.12.24 PM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032" y="4232957"/>
            <a:ext cx="1063259" cy="99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3.12 PM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0381" y="4194695"/>
            <a:ext cx="1776451" cy="51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3.39 PM.png" id="148" name="Google Shape;14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01798" y="4157306"/>
            <a:ext cx="2306981" cy="624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4.12 PM.png" id="149" name="Google Shape;14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98328" y="4596495"/>
            <a:ext cx="1233737" cy="931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4.50 PM.png" id="150" name="Google Shape;15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82481" y="4840976"/>
            <a:ext cx="2699111" cy="582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5.21 PM.png" id="151" name="Google Shape;15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59486" y="5529070"/>
            <a:ext cx="1578025" cy="508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5.58 PM.png" id="152" name="Google Shape;15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94904" y="3949259"/>
            <a:ext cx="1578025" cy="122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6.32 PM.png" id="153" name="Google Shape;153;p16"/>
          <p:cNvPicPr preferRelativeResize="0"/>
          <p:nvPr/>
        </p:nvPicPr>
        <p:blipFill rotWithShape="1">
          <a:blip r:embed="rId15">
            <a:alphaModFix/>
          </a:blip>
          <a:srcRect b="0" l="5780" r="0" t="19574"/>
          <a:stretch/>
        </p:blipFill>
        <p:spPr>
          <a:xfrm>
            <a:off x="5904721" y="5534954"/>
            <a:ext cx="1486812" cy="671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7.46 PM.png" id="154" name="Google Shape;15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23098" y="5396236"/>
            <a:ext cx="2047623" cy="797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18 at 3.18.21 PM.png" id="155" name="Google Shape;155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74123" y="5521927"/>
            <a:ext cx="1578025" cy="629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570441" y="9596266"/>
            <a:ext cx="6428713" cy="349784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cloud TTS API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spoken voice synthesis adjusted to regional dialects</a:t>
            </a:r>
            <a:endParaRPr/>
          </a:p>
        </p:txBody>
      </p:sp>
      <p:cxnSp>
        <p:nvCxnSpPr>
          <p:cNvPr id="157" name="Google Shape;157;p16"/>
          <p:cNvCxnSpPr/>
          <p:nvPr/>
        </p:nvCxnSpPr>
        <p:spPr>
          <a:xfrm flipH="1" rot="10800000">
            <a:off x="7605470" y="3127300"/>
            <a:ext cx="1" cy="6772217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6"/>
          <p:cNvSpPr/>
          <p:nvPr/>
        </p:nvSpPr>
        <p:spPr>
          <a:xfrm>
            <a:off x="7934273" y="4047073"/>
            <a:ext cx="8219671" cy="5378159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A7A7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6253240" y="4047073"/>
            <a:ext cx="1878997" cy="4320504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7A7A7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0898555" y="4143387"/>
            <a:ext cx="2199172" cy="286284"/>
          </a:xfrm>
          <a:prstGeom prst="rect">
            <a:avLst/>
          </a:prstGeom>
          <a:gradFill>
            <a:gsLst>
              <a:gs pos="0">
                <a:srgbClr val="FEA2A1"/>
              </a:gs>
              <a:gs pos="35000">
                <a:srgbClr val="FFBFBE"/>
              </a:gs>
              <a:gs pos="100000">
                <a:srgbClr val="FEE4E4"/>
              </a:gs>
            </a:gsLst>
            <a:lin ang="16200000" scaled="0"/>
          </a:gradFill>
          <a:ln cap="flat" cmpd="sng" w="127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Flutter App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farmer input 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1171231" y="4673616"/>
            <a:ext cx="1596926" cy="286284"/>
          </a:xfrm>
          <a:prstGeom prst="rect">
            <a:avLst/>
          </a:prstGeom>
          <a:gradFill>
            <a:gsLst>
              <a:gs pos="0">
                <a:srgbClr val="A1C2FE"/>
              </a:gs>
              <a:gs pos="35000">
                <a:srgbClr val="BDD4FF"/>
              </a:gs>
              <a:gs pos="100000">
                <a:srgbClr val="E4EDFE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API Backend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0440134" y="5237282"/>
            <a:ext cx="3171603" cy="286284"/>
          </a:xfrm>
          <a:prstGeom prst="rect">
            <a:avLst/>
          </a:prstGeom>
          <a:solidFill>
            <a:srgbClr val="BFB1D0"/>
          </a:solidFill>
          <a:ln cap="flat" cmpd="sng" w="12700">
            <a:solidFill>
              <a:srgbClr val="9F8AB9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Whisper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NLP / Speech to text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5110" y="5789508"/>
            <a:ext cx="4281736" cy="464916"/>
          </a:xfrm>
          <a:prstGeom prst="rect">
            <a:avLst/>
          </a:prstGeom>
          <a:solidFill>
            <a:srgbClr val="B3CB82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intent classifier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Classifies intent-&gt; price/ crop disease/ scheme/ weather/ SOS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998503" y="6580542"/>
            <a:ext cx="2575050" cy="464915"/>
          </a:xfrm>
          <a:prstGeom prst="rect">
            <a:avLst/>
          </a:prstGeom>
          <a:solidFill>
            <a:srgbClr val="CCDCAB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 DB-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search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Finds top 3 ICAR documents chunks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967849" y="6580542"/>
            <a:ext cx="1936875" cy="464915"/>
          </a:xfrm>
          <a:prstGeom prst="rect">
            <a:avLst/>
          </a:prstGeom>
          <a:solidFill>
            <a:srgbClr val="CCDCAB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data APIs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AgMarkNet , OpenWeather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3410830" y="6583483"/>
            <a:ext cx="2596854" cy="464915"/>
          </a:xfrm>
          <a:prstGeom prst="rect">
            <a:avLst/>
          </a:prstGeom>
          <a:solidFill>
            <a:srgbClr val="CCDCAB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 Vision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 CV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Leaf photo input -&gt; disease identified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042165" y="7262519"/>
            <a:ext cx="7911952" cy="464915"/>
          </a:xfrm>
          <a:prstGeom prst="rect">
            <a:avLst/>
          </a:prstGeom>
          <a:gradFill>
            <a:gsLst>
              <a:gs pos="0">
                <a:srgbClr val="A3E5FE"/>
              </a:gs>
              <a:gs pos="35000">
                <a:srgbClr val="BFEDFF"/>
              </a:gs>
              <a:gs pos="100000">
                <a:srgbClr val="E4F7FE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 API . Generative AI . Predictive Analysis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+ ICAR chunks + live data + CV results -&gt; plain language answers. Source citation. Price trend prediction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0792793" y="8059636"/>
            <a:ext cx="2293715" cy="286284"/>
          </a:xfrm>
          <a:prstGeom prst="rect">
            <a:avLst/>
          </a:prstGeom>
          <a:gradFill>
            <a:gsLst>
              <a:gs pos="0">
                <a:srgbClr val="A1C2FE"/>
              </a:gs>
              <a:gs pos="35000">
                <a:srgbClr val="BDD4FF"/>
              </a:gs>
              <a:gs pos="100000">
                <a:srgbClr val="E4EDFE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API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flutter response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383420" y="7955707"/>
            <a:ext cx="1961903" cy="464915"/>
          </a:xfrm>
          <a:prstGeom prst="rect">
            <a:avLst/>
          </a:prstGeom>
          <a:solidFill>
            <a:srgbClr val="BFB1D0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cloud TTS API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to speech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382664" y="8728830"/>
            <a:ext cx="2152725" cy="489485"/>
          </a:xfrm>
          <a:prstGeom prst="rect">
            <a:avLst/>
          </a:prstGeom>
          <a:gradFill>
            <a:gsLst>
              <a:gs pos="0">
                <a:srgbClr val="FEA2A1"/>
              </a:gs>
              <a:gs pos="35000">
                <a:srgbClr val="FFBFBE"/>
              </a:gs>
              <a:gs pos="100000">
                <a:srgbClr val="FEE4E4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Farmer hears answer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her language . &lt;30secs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3476226" y="7931138"/>
            <a:ext cx="2577518" cy="489484"/>
          </a:xfrm>
          <a:prstGeom prst="rect">
            <a:avLst/>
          </a:prstGeom>
          <a:gradFill>
            <a:gsLst>
              <a:gs pos="0">
                <a:srgbClr val="FFCFB8"/>
              </a:gs>
              <a:gs pos="35000">
                <a:srgbClr val="FFDECF"/>
              </a:gs>
              <a:gs pos="100000">
                <a:srgbClr val="FFF0EA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rating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Thumbs up/ down -&gt; Supabase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3831000" y="8732047"/>
            <a:ext cx="1966244" cy="489485"/>
          </a:xfrm>
          <a:prstGeom prst="rect">
            <a:avLst/>
          </a:prstGeom>
          <a:gradFill>
            <a:gsLst>
              <a:gs pos="0">
                <a:srgbClr val="FFCFB8"/>
              </a:gs>
              <a:gs pos="35000">
                <a:srgbClr val="FFDECF"/>
              </a:gs>
              <a:gs pos="100000">
                <a:srgbClr val="FFF0EA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improves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 answers flagged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6621085" y="4551861"/>
            <a:ext cx="1050504" cy="489484"/>
          </a:xfrm>
          <a:prstGeom prst="rect">
            <a:avLst/>
          </a:prstGeom>
          <a:gradFill>
            <a:gsLst>
              <a:gs pos="0">
                <a:srgbClr val="FFCFB8"/>
              </a:gs>
              <a:gs pos="35000">
                <a:srgbClr val="FFDECF"/>
              </a:gs>
              <a:gs pos="100000">
                <a:srgbClr val="FFF0EA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Hive DB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cache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6354255" y="5235202"/>
            <a:ext cx="1584165" cy="489485"/>
          </a:xfrm>
          <a:prstGeom prst="rect">
            <a:avLst/>
          </a:prstGeom>
          <a:gradFill>
            <a:gsLst>
              <a:gs pos="0">
                <a:srgbClr val="FFCFB8"/>
              </a:gs>
              <a:gs pos="35000">
                <a:srgbClr val="FFDECF"/>
              </a:gs>
              <a:gs pos="100000">
                <a:srgbClr val="FFF0EA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Syncs when online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6545550" y="6006051"/>
            <a:ext cx="1336998" cy="286284"/>
          </a:xfrm>
          <a:prstGeom prst="rect">
            <a:avLst/>
          </a:prstGeom>
          <a:gradFill>
            <a:gsLst>
              <a:gs pos="0">
                <a:srgbClr val="FFCFB8"/>
              </a:gs>
              <a:gs pos="35000">
                <a:srgbClr val="FFDECF"/>
              </a:gs>
              <a:gs pos="100000">
                <a:srgbClr val="FFF0EA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Cached answer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6350443" y="6820986"/>
            <a:ext cx="1591789" cy="64271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SOS path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WhatsApp cloud and Twilio APIs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6378954" y="7730057"/>
            <a:ext cx="1534766" cy="4894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 sent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contacts notified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6440637" y="8560909"/>
            <a:ext cx="1411400" cy="489484"/>
          </a:xfrm>
          <a:prstGeom prst="rect">
            <a:avLst/>
          </a:prstGeom>
          <a:gradFill>
            <a:gsLst>
              <a:gs pos="0">
                <a:srgbClr val="A1C2FE"/>
              </a:gs>
              <a:gs pos="35000">
                <a:srgbClr val="BDD4FF"/>
              </a:gs>
              <a:gs pos="100000">
                <a:srgbClr val="E4EDFE"/>
              </a:gs>
            </a:gsLst>
            <a:lin ang="16200000" scaled="0"/>
          </a:gra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Logs + feedback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987045" y="4157769"/>
            <a:ext cx="615554" cy="28628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6320788" y="4099491"/>
            <a:ext cx="1037134" cy="28628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Offline/SOS</a:t>
            </a:r>
            <a:endParaRPr/>
          </a:p>
        </p:txBody>
      </p:sp>
      <p:cxnSp>
        <p:nvCxnSpPr>
          <p:cNvPr id="181" name="Google Shape;181;p16"/>
          <p:cNvCxnSpPr/>
          <p:nvPr/>
        </p:nvCxnSpPr>
        <p:spPr>
          <a:xfrm>
            <a:off x="11986390" y="4422117"/>
            <a:ext cx="1" cy="279576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2" name="Google Shape;182;p16"/>
          <p:cNvCxnSpPr/>
          <p:nvPr/>
        </p:nvCxnSpPr>
        <p:spPr>
          <a:xfrm>
            <a:off x="11957293" y="4960248"/>
            <a:ext cx="1" cy="279576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3" name="Google Shape;183;p16"/>
          <p:cNvCxnSpPr/>
          <p:nvPr/>
        </p:nvCxnSpPr>
        <p:spPr>
          <a:xfrm>
            <a:off x="11957293" y="5486119"/>
            <a:ext cx="1" cy="329236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4" name="Google Shape;184;p16"/>
          <p:cNvCxnSpPr/>
          <p:nvPr/>
        </p:nvCxnSpPr>
        <p:spPr>
          <a:xfrm>
            <a:off x="11910774" y="7723707"/>
            <a:ext cx="1" cy="375184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5" name="Google Shape;185;p16"/>
          <p:cNvCxnSpPr/>
          <p:nvPr/>
        </p:nvCxnSpPr>
        <p:spPr>
          <a:xfrm>
            <a:off x="9334390" y="8401287"/>
            <a:ext cx="1" cy="375184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6" name="Google Shape;186;p16"/>
          <p:cNvCxnSpPr/>
          <p:nvPr/>
        </p:nvCxnSpPr>
        <p:spPr>
          <a:xfrm>
            <a:off x="14672308" y="8328760"/>
            <a:ext cx="1" cy="444652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7" name="Google Shape;187;p16"/>
          <p:cNvCxnSpPr/>
          <p:nvPr/>
        </p:nvCxnSpPr>
        <p:spPr>
          <a:xfrm>
            <a:off x="12718522" y="4842282"/>
            <a:ext cx="3907572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8" name="Google Shape;188;p16"/>
          <p:cNvCxnSpPr/>
          <p:nvPr/>
        </p:nvCxnSpPr>
        <p:spPr>
          <a:xfrm>
            <a:off x="17065715" y="5666747"/>
            <a:ext cx="1" cy="407927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9" name="Google Shape;189;p16"/>
          <p:cNvCxnSpPr/>
          <p:nvPr/>
        </p:nvCxnSpPr>
        <p:spPr>
          <a:xfrm>
            <a:off x="17065715" y="4960297"/>
            <a:ext cx="1" cy="304495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0" name="Google Shape;190;p16"/>
          <p:cNvCxnSpPr/>
          <p:nvPr/>
        </p:nvCxnSpPr>
        <p:spPr>
          <a:xfrm>
            <a:off x="17065715" y="7468486"/>
            <a:ext cx="1" cy="279576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1" name="Google Shape;191;p16"/>
          <p:cNvSpPr txBox="1"/>
          <p:nvPr/>
        </p:nvSpPr>
        <p:spPr>
          <a:xfrm>
            <a:off x="14727798" y="5783158"/>
            <a:ext cx="563266" cy="27358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SOS?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3725797" y="4543174"/>
            <a:ext cx="698439" cy="27358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Offline?</a:t>
            </a:r>
            <a:endParaRPr/>
          </a:p>
        </p:txBody>
      </p:sp>
      <p:cxnSp>
        <p:nvCxnSpPr>
          <p:cNvPr id="193" name="Google Shape;193;p16"/>
          <p:cNvCxnSpPr/>
          <p:nvPr/>
        </p:nvCxnSpPr>
        <p:spPr>
          <a:xfrm>
            <a:off x="10339166" y="6384127"/>
            <a:ext cx="3762789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4" name="Google Shape;194;p16"/>
          <p:cNvCxnSpPr/>
          <p:nvPr/>
        </p:nvCxnSpPr>
        <p:spPr>
          <a:xfrm>
            <a:off x="10324395" y="6373039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16"/>
          <p:cNvCxnSpPr/>
          <p:nvPr/>
        </p:nvCxnSpPr>
        <p:spPr>
          <a:xfrm>
            <a:off x="14075016" y="6363697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6" name="Google Shape;196;p16"/>
          <p:cNvCxnSpPr/>
          <p:nvPr/>
        </p:nvCxnSpPr>
        <p:spPr>
          <a:xfrm>
            <a:off x="11923242" y="6393489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7" name="Google Shape;197;p16"/>
          <p:cNvCxnSpPr/>
          <p:nvPr/>
        </p:nvCxnSpPr>
        <p:spPr>
          <a:xfrm>
            <a:off x="11923242" y="6236240"/>
            <a:ext cx="1" cy="158962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8" name="Google Shape;198;p16"/>
          <p:cNvCxnSpPr/>
          <p:nvPr/>
        </p:nvCxnSpPr>
        <p:spPr>
          <a:xfrm>
            <a:off x="14004620" y="6046950"/>
            <a:ext cx="2371909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16"/>
          <p:cNvCxnSpPr/>
          <p:nvPr/>
        </p:nvCxnSpPr>
        <p:spPr>
          <a:xfrm flipH="1">
            <a:off x="16352687" y="6046017"/>
            <a:ext cx="1" cy="797669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0" name="Google Shape;200;p16"/>
          <p:cNvCxnSpPr/>
          <p:nvPr/>
        </p:nvCxnSpPr>
        <p:spPr>
          <a:xfrm>
            <a:off x="10321745" y="7058369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1" name="Google Shape;201;p16"/>
          <p:cNvCxnSpPr/>
          <p:nvPr/>
        </p:nvCxnSpPr>
        <p:spPr>
          <a:xfrm>
            <a:off x="11910786" y="7058369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2" name="Google Shape;202;p16"/>
          <p:cNvCxnSpPr/>
          <p:nvPr/>
        </p:nvCxnSpPr>
        <p:spPr>
          <a:xfrm>
            <a:off x="14075016" y="7047036"/>
            <a:ext cx="1" cy="239838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3" name="Google Shape;203;p16"/>
          <p:cNvCxnSpPr/>
          <p:nvPr/>
        </p:nvCxnSpPr>
        <p:spPr>
          <a:xfrm flipH="1">
            <a:off x="10287280" y="8225890"/>
            <a:ext cx="516759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4" name="Google Shape;204;p16"/>
          <p:cNvCxnSpPr/>
          <p:nvPr/>
        </p:nvCxnSpPr>
        <p:spPr>
          <a:xfrm>
            <a:off x="13004713" y="8218019"/>
            <a:ext cx="516759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5" name="Google Shape;205;p16"/>
          <p:cNvCxnSpPr/>
          <p:nvPr/>
        </p:nvCxnSpPr>
        <p:spPr>
          <a:xfrm>
            <a:off x="15941545" y="8388972"/>
            <a:ext cx="522054" cy="150665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6" name="Google Shape;206;p16"/>
          <p:cNvCxnSpPr/>
          <p:nvPr/>
        </p:nvCxnSpPr>
        <p:spPr>
          <a:xfrm rot="10800000">
            <a:off x="16757666" y="9106960"/>
            <a:ext cx="1" cy="444652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7" name="Google Shape;207;p16"/>
          <p:cNvCxnSpPr/>
          <p:nvPr/>
        </p:nvCxnSpPr>
        <p:spPr>
          <a:xfrm>
            <a:off x="11910774" y="9537505"/>
            <a:ext cx="4925413" cy="1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8" name="Google Shape;208;p16"/>
          <p:cNvCxnSpPr/>
          <p:nvPr/>
        </p:nvCxnSpPr>
        <p:spPr>
          <a:xfrm>
            <a:off x="11865233" y="8388674"/>
            <a:ext cx="1" cy="1169797"/>
          </a:xfrm>
          <a:prstGeom prst="straightConnector1">
            <a:avLst/>
          </a:prstGeom>
          <a:noFill/>
          <a:ln cap="flat" cmpd="sng" w="25400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9" name="Google Shape;209;p16"/>
          <p:cNvSpPr txBox="1"/>
          <p:nvPr/>
        </p:nvSpPr>
        <p:spPr>
          <a:xfrm>
            <a:off x="12290977" y="9537505"/>
            <a:ext cx="1423270" cy="27358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chat session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5378560" y="8411505"/>
            <a:ext cx="988319" cy="27358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rating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17"/>
          <p:cNvCxnSpPr/>
          <p:nvPr/>
        </p:nvCxnSpPr>
        <p:spPr>
          <a:xfrm>
            <a:off x="15190574" y="472320"/>
            <a:ext cx="1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7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11281088" y="439948"/>
            <a:ext cx="3762789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0" y="10120214"/>
            <a:ext cx="18306333" cy="166786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102042" y="2149020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Research &amp; Analysis</a:t>
            </a:r>
            <a:endParaRPr/>
          </a:p>
        </p:txBody>
      </p:sp>
      <p:cxnSp>
        <p:nvCxnSpPr>
          <p:cNvPr id="222" name="Google Shape;222;p17"/>
          <p:cNvCxnSpPr/>
          <p:nvPr/>
        </p:nvCxnSpPr>
        <p:spPr>
          <a:xfrm>
            <a:off x="-133658" y="2893902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3" name="Google Shape;223;p17"/>
          <p:cNvSpPr txBox="1"/>
          <p:nvPr/>
        </p:nvSpPr>
        <p:spPr>
          <a:xfrm>
            <a:off x="438885" y="3123999"/>
            <a:ext cx="8070959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9563632" y="3123999"/>
            <a:ext cx="8142961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SIZE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402920" y="6327828"/>
            <a:ext cx="8142900" cy="76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REVENUE MODEL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9672423" y="6383665"/>
            <a:ext cx="8142961" cy="7418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EXPECTED GROWTH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81984" y="4156373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481984" y="4863355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481984" y="5570336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Tertiary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850698" y="4131173"/>
            <a:ext cx="659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Non-text-literate  wo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 farmers in Maharashtra, Andhra Pradesh, Telangana, Uttar Pradesh, Bihar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(states with highest female agri workforce).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850698" y="4836460"/>
            <a:ext cx="6783092" cy="448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Krishi Mitra extension workers &amp; agricultural NGOs using Sakhi AI as a last mile community advisory tool for their communities.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850698" y="5535779"/>
            <a:ext cx="678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Government bodies (NABARD, Ministry of Agriculture) automating digitized scheme distribution and direct-to-farmer welfare validation. 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9785315" y="4036712"/>
            <a:ext cx="2403729" cy="2213576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12528763" y="4036712"/>
            <a:ext cx="2403729" cy="2213576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15272211" y="4013161"/>
            <a:ext cx="2403728" cy="222316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12555892" y="4414358"/>
            <a:ext cx="2376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127"/>
              </a:buClr>
              <a:buSzPts val="3000"/>
              <a:buFont typeface="Arial"/>
              <a:buNone/>
            </a:pPr>
            <a:r>
              <a:rPr b="1" i="0" lang="en-US" sz="2900" u="none" cap="none" strike="noStrike">
                <a:solidFill>
                  <a:srgbClr val="435127"/>
                </a:solidFill>
                <a:latin typeface="Arial"/>
                <a:ea typeface="Arial"/>
                <a:cs typeface="Arial"/>
                <a:sym typeface="Arial"/>
              </a:rPr>
              <a:t>40 M</a:t>
            </a:r>
            <a:endParaRPr sz="13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Serviceable </a:t>
            </a:r>
            <a:r>
              <a:rPr lang="en-US" sz="1500" u="sng"/>
              <a:t>Addressable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 farmers in Hindi, Marathi and Telugu states with smartphone access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9772616" y="4056321"/>
            <a:ext cx="2429128" cy="335423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12529340" y="4024012"/>
            <a:ext cx="2429128" cy="335423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5259511" y="3998497"/>
            <a:ext cx="2429128" cy="335422"/>
          </a:xfrm>
          <a:prstGeom prst="rect">
            <a:avLst/>
          </a:prstGeom>
          <a:solidFill>
            <a:srgbClr val="7B9447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15286064" y="4411851"/>
            <a:ext cx="2376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127"/>
              </a:buClr>
              <a:buSzPts val="3000"/>
              <a:buFont typeface="Arial"/>
              <a:buNone/>
            </a:pPr>
            <a:r>
              <a:rPr b="1" i="0" lang="en-US" sz="2900" u="none" cap="none" strike="noStrike">
                <a:solidFill>
                  <a:srgbClr val="435127"/>
                </a:solidFill>
                <a:latin typeface="Arial"/>
                <a:ea typeface="Arial"/>
                <a:cs typeface="Arial"/>
                <a:sym typeface="Arial"/>
              </a:rPr>
              <a:t>500 K</a:t>
            </a:r>
            <a:endParaRPr sz="13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Obtainable Year 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Via NGOs </a:t>
            </a:r>
            <a:r>
              <a:rPr lang="en-US" sz="1500"/>
              <a:t>partnerships,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 agri-dept tie ups in Maharashtra and AP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9695700" y="4460675"/>
            <a:ext cx="258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127"/>
              </a:buClr>
              <a:buSzPts val="3000"/>
              <a:buFont typeface="Arial"/>
              <a:buNone/>
            </a:pPr>
            <a:r>
              <a:rPr b="1" lang="en-US" sz="2900">
                <a:solidFill>
                  <a:srgbClr val="435127"/>
                </a:solidFill>
              </a:rPr>
              <a:t>Rs.</a:t>
            </a:r>
            <a:r>
              <a:rPr b="1" i="0" lang="en-US" sz="2900" u="none" cap="none" strike="noStrike">
                <a:solidFill>
                  <a:srgbClr val="435127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US" sz="2900">
                <a:solidFill>
                  <a:srgbClr val="435127"/>
                </a:solidFill>
              </a:rPr>
              <a:t>Lakh Cr</a:t>
            </a:r>
            <a:r>
              <a:rPr b="1" lang="en-US" sz="3000">
                <a:solidFill>
                  <a:srgbClr val="435127"/>
                </a:solidFill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Addressable Market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 AgriTech by 2030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(10x from </a:t>
            </a:r>
            <a:r>
              <a:rPr lang="en-US" sz="1500"/>
              <a:t>Rs. 2 Lakh Cr i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2024)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115 M women farmers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1135383" y="7166010"/>
            <a:ext cx="2583000" cy="2435100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3122255" y="7166010"/>
            <a:ext cx="2583000" cy="2435100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181355" y="7209288"/>
            <a:ext cx="2583000" cy="2435100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10070856" y="7428354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1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10070856" y="8166974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2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0070856" y="8929411"/>
            <a:ext cx="1257964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3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1424471" y="7500202"/>
            <a:ext cx="1674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License to state agri dept at RS 5-15/user/month.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Rs. 2.5-7.5Cr/month at 500K users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3450420" y="7584655"/>
            <a:ext cx="1674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B2B NGO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White label SaaS for micro-finance institutions &amp; agri NGOs serving rural women borrowers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5293163" y="7584650"/>
            <a:ext cx="2583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B2B Input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earning </a:t>
            </a:r>
            <a:r>
              <a:rPr lang="en-US">
                <a:solidFill>
                  <a:schemeClr val="dk1"/>
                </a:solidFill>
              </a:rPr>
              <a:t>commissions</a:t>
            </a:r>
            <a:r>
              <a:rPr lang="en-US">
                <a:solidFill>
                  <a:schemeClr val="dk1"/>
                </a:solidFill>
              </a:rPr>
              <a:t> through sales &amp; advertisements of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unrelated products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7772806" y="7419218"/>
            <a:ext cx="206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1566778" y="7403647"/>
            <a:ext cx="6224985" cy="40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languages (Hindi, Marathi, Telugu), 2 states (Maharashtra, AP), 500K users via NGO partnerships. Focus: product-market fit and corpus quality.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1566778" y="8127496"/>
            <a:ext cx="6224985" cy="40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languages, 8 states, 5M users. Government of India PMKSY (Per Drop More Crop) integration. First B2G revenue contracts.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11566778" y="8851345"/>
            <a:ext cx="6224985" cy="401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 to Bangladesh, Nepal, sub-Saharan Africa (same voice-first RAG architecture, different language corpus). 20M+ users globally.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8"/>
          <p:cNvCxnSpPr/>
          <p:nvPr/>
        </p:nvCxnSpPr>
        <p:spPr>
          <a:xfrm>
            <a:off x="15190575" y="472320"/>
            <a:ext cx="1" cy="478961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8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11281088" y="439948"/>
            <a:ext cx="3762789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-1" y="10120213"/>
            <a:ext cx="18306333" cy="166786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102042" y="2196977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cxnSp>
        <p:nvCxnSpPr>
          <p:cNvPr id="266" name="Google Shape;266;p18"/>
          <p:cNvCxnSpPr/>
          <p:nvPr/>
        </p:nvCxnSpPr>
        <p:spPr>
          <a:xfrm>
            <a:off x="-142824" y="2893902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7" name="Google Shape;267;p18"/>
          <p:cNvSpPr txBox="1"/>
          <p:nvPr/>
        </p:nvSpPr>
        <p:spPr>
          <a:xfrm>
            <a:off x="261085" y="3123999"/>
            <a:ext cx="8254590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 APP DEVELOPMENT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9381189" y="3123999"/>
            <a:ext cx="8638200" cy="76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MODEL IMPROVEMENT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9381189" y="6908599"/>
            <a:ext cx="8684238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SCALING TO GLOBAL USERS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319915" y="6908599"/>
            <a:ext cx="8254590" cy="7418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41300" lIns="241300" spcFirstLastPara="1" rIns="241300" wrap="square" tIns="241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ENTERPRISE INTEGRATION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383121" y="4095916"/>
            <a:ext cx="2403728" cy="238948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3233414" y="4132626"/>
            <a:ext cx="2403728" cy="2389484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6083706" y="4095916"/>
            <a:ext cx="2403729" cy="2389485"/>
          </a:xfrm>
          <a:prstGeom prst="rect">
            <a:avLst/>
          </a:prstGeom>
          <a:solidFill>
            <a:srgbClr val="CCDCAB"/>
          </a:solidFill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469109" y="4175066"/>
            <a:ext cx="22317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First App: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Flutter optimised for low-end Android (2GB RAM, Android 8+) . Built for 2G , 3G speeds with aggressive local caching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3331334" y="4231113"/>
            <a:ext cx="2231752" cy="193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 Bot: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note to WhatsApp reply. 500M+ Indian  users. Zero app download needed ( lowest barrier to entry possible )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6169695" y="4214274"/>
            <a:ext cx="2292703" cy="215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IVRS (zero smartphone) 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 a number, ask your question, get a spoken answer. Works on any basic phone (no smartphone required at all).</a:t>
            </a:r>
            <a:endParaRPr/>
          </a:p>
        </p:txBody>
      </p:sp>
      <p:cxnSp>
        <p:nvCxnSpPr>
          <p:cNvPr id="277" name="Google Shape;277;p18"/>
          <p:cNvCxnSpPr/>
          <p:nvPr/>
        </p:nvCxnSpPr>
        <p:spPr>
          <a:xfrm>
            <a:off x="2787045" y="5338370"/>
            <a:ext cx="544862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8" name="Google Shape;278;p18"/>
          <p:cNvCxnSpPr/>
          <p:nvPr/>
        </p:nvCxnSpPr>
        <p:spPr>
          <a:xfrm>
            <a:off x="5598837" y="5387209"/>
            <a:ext cx="544862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p18"/>
          <p:cNvSpPr/>
          <p:nvPr/>
        </p:nvSpPr>
        <p:spPr>
          <a:xfrm>
            <a:off x="9552785" y="3984212"/>
            <a:ext cx="2871578" cy="2686312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287519" y="3984212"/>
            <a:ext cx="2871600" cy="2686200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5064774" y="3984212"/>
            <a:ext cx="2871578" cy="2686312"/>
          </a:xfrm>
          <a:prstGeom prst="ellipse">
            <a:avLst/>
          </a:prstGeom>
          <a:gradFill>
            <a:gsLst>
              <a:gs pos="0">
                <a:srgbClr val="D9FDA3"/>
              </a:gs>
              <a:gs pos="35000">
                <a:srgbClr val="E4FDBF"/>
              </a:gs>
              <a:gs pos="100000">
                <a:srgbClr val="F4FEE5"/>
              </a:gs>
            </a:gsLst>
            <a:lin ang="16200000" scaled="0"/>
          </a:gra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9747665" y="4469113"/>
            <a:ext cx="2231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Dialect Fine Tuning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 tuning whisper on actual rural dialect audio</a:t>
            </a:r>
            <a:endParaRPr sz="13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(Push accuracy from 95% to 99 % for local accents and regional variations)</a:t>
            </a:r>
            <a:endParaRPr sz="1300"/>
          </a:p>
        </p:txBody>
      </p:sp>
      <p:sp>
        <p:nvSpPr>
          <p:cNvPr id="283" name="Google Shape;283;p18"/>
          <p:cNvSpPr txBox="1"/>
          <p:nvPr/>
        </p:nvSpPr>
        <p:spPr>
          <a:xfrm>
            <a:off x="12530018" y="4397528"/>
            <a:ext cx="24291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ersonalised  profiles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/>
              <a:t>after</a:t>
            </a: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few months of usage, the system remembers her specific farm details, delivering instant, tailored advice without making her re-explain her context every time.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284" name="Google Shape;284;p18"/>
          <p:cNvSpPr txBox="1"/>
          <p:nvPr/>
        </p:nvSpPr>
        <p:spPr>
          <a:xfrm>
            <a:off x="15337274" y="4538124"/>
            <a:ext cx="2231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Yield Prediction 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Mandi data + weather + NASA MODIS satellite imagery to predict optimal harvest timing per crop per district.</a:t>
            </a:r>
            <a:endParaRPr sz="1300"/>
          </a:p>
        </p:txBody>
      </p:sp>
      <p:sp>
        <p:nvSpPr>
          <p:cNvPr id="285" name="Google Shape;285;p18"/>
          <p:cNvSpPr txBox="1"/>
          <p:nvPr/>
        </p:nvSpPr>
        <p:spPr>
          <a:xfrm>
            <a:off x="391699" y="7800568"/>
            <a:ext cx="1393956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eNAM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391699" y="8544256"/>
            <a:ext cx="1393956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PMFBY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391699" y="9284624"/>
            <a:ext cx="1393956" cy="333190"/>
          </a:xfrm>
          <a:prstGeom prst="rect">
            <a:avLst/>
          </a:prstGeom>
          <a:solidFill>
            <a:srgbClr val="B3CB82"/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Chain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1878204" y="7770138"/>
            <a:ext cx="6871296" cy="425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APIs with National Agricultural Market, real time prices from 1000+ Mandis across India.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878204" y="8498730"/>
            <a:ext cx="6871296" cy="42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with crop insurance so Sakhi AI initiates claims directly after a disease/ weather event.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1878204" y="9238435"/>
            <a:ext cx="6871296" cy="425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seeds and fertilisers distributors, advise what to use and where to buy.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Advisory to purchase loop. 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9416863" y="7818118"/>
            <a:ext cx="8612889" cy="527169"/>
          </a:xfrm>
          <a:prstGeom prst="rect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architecture is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replicable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swap ICAR docs with CGIAR docs,  Hindi for Swahili (same system can serve Kenya, Ethiopia, Bangladesh)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9416864" y="8584849"/>
            <a:ext cx="6588300" cy="820800"/>
          </a:xfrm>
          <a:prstGeom prst="rect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63500" lIns="63500" spcFirstLastPara="1" rIns="63500" wrap="square" tIns="63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SDG alignment 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SDG 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No poverty |  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SDG 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Zero hunger |  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SDG 5 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Gender equality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-7517" y="2241"/>
            <a:ext cx="18303034" cy="21177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19"/>
          <p:cNvCxnSpPr/>
          <p:nvPr/>
        </p:nvCxnSpPr>
        <p:spPr>
          <a:xfrm>
            <a:off x="15190575" y="472320"/>
            <a:ext cx="1" cy="479101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9"/>
          <p:cNvSpPr/>
          <p:nvPr/>
        </p:nvSpPr>
        <p:spPr>
          <a:xfrm>
            <a:off x="15337274" y="439948"/>
            <a:ext cx="2699111" cy="5437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11281088" y="439948"/>
            <a:ext cx="3762788" cy="5437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0" y="10120214"/>
            <a:ext cx="18306454" cy="166787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377327" y="195790"/>
            <a:ext cx="1578025" cy="13578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102042" y="2196977"/>
            <a:ext cx="18083917" cy="70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TRAE Account Upholding</a:t>
            </a:r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-142824" y="2893902"/>
            <a:ext cx="18573649" cy="1"/>
          </a:xfrm>
          <a:prstGeom prst="straightConnector1">
            <a:avLst/>
          </a:prstGeom>
          <a:noFill/>
          <a:ln cap="flat" cmpd="sng" w="25400">
            <a:solidFill>
              <a:srgbClr val="7B9447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Screenshot 2026-05-18 at 9.03.42 AM.png" id="305" name="Google Shape;30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40" y="3328333"/>
            <a:ext cx="8919702" cy="482076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2973176" y="8570828"/>
            <a:ext cx="2116139" cy="28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Kanishka Pandey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12941359" y="8570828"/>
            <a:ext cx="1692598" cy="28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Dhruv Makkar</a:t>
            </a:r>
            <a:endParaRPr/>
          </a:p>
        </p:txBody>
      </p:sp>
      <p:pic>
        <p:nvPicPr>
          <p:cNvPr id="308" name="Google Shape;30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15900" y="3328325"/>
            <a:ext cx="8482075" cy="47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/>
          <p:nvPr/>
        </p:nvSpPr>
        <p:spPr>
          <a:xfrm>
            <a:off x="-1" y="10120214"/>
            <a:ext cx="18306333" cy="166787"/>
          </a:xfrm>
          <a:prstGeom prst="rect">
            <a:avLst/>
          </a:prstGeom>
          <a:solidFill>
            <a:srgbClr val="526B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 rot="-348031">
            <a:off x="1284812" y="6451554"/>
            <a:ext cx="9109945" cy="183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00"/>
              <a:buFont typeface="Comic Sans MS"/>
              <a:buNone/>
            </a:pPr>
            <a:r>
              <a:rPr b="0" i="0" lang="en-US" sz="217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8685126" y="5995892"/>
            <a:ext cx="88173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0"/>
              <a:buFont typeface="Comic Sans MS"/>
              <a:buNone/>
            </a:pPr>
            <a:r>
              <a:rPr b="0" i="0" lang="en-US" sz="225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you!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-1" y="-66109"/>
            <a:ext cx="18324666" cy="52096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7532967" y="1028700"/>
            <a:ext cx="4042250" cy="36535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13842818" y="628650"/>
            <a:ext cx="3971926" cy="8001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479454" y="628650"/>
            <a:ext cx="5537201" cy="800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